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DCCD10-C751-40E5-BAE7-601B13230D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237C34-605C-4547-ABFE-18288D401F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BAFD52-5CDB-4042-84D6-DCF2A2B6E7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8CA3EB-54D9-43D8-80F5-B069787BB5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86504B-8438-45F6-B4FC-027E538B22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866425-CC1E-493B-A1F0-A12850B899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BEEC07-DD1C-4F1F-BD52-E075AA93F6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8749B3-F167-4F69-A7AC-C4F4F02FEC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546661-81A5-4E9A-A3F4-BCFDEF7158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A91967-A021-4A80-B8CD-77FB58AA20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A3F74C-AA08-4E60-B4AF-BB863BBD7C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E0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8046720" y="0"/>
            <a:ext cx="4160160" cy="68576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2" descr="logo.png"/>
          <p:cNvPicPr/>
          <p:nvPr/>
        </p:nvPicPr>
        <p:blipFill>
          <a:blip r:embed="rId1"/>
          <a:stretch/>
        </p:blipFill>
        <p:spPr>
          <a:xfrm>
            <a:off x="411480" y="228600"/>
            <a:ext cx="201132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11109960" y="3474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85800" y="141732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Конструктор ГПХ МОП: первичный MVP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2880360"/>
            <a:ext cx="80463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От анкеты подрядчика до готового договора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Анкета подрядчика  →  Кабинет кадровика  →  Договор ГПХ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7772400" y="44805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8394120" y="44805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9015840" y="44805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4"/>
          <p:cNvSpPr/>
          <p:nvPr/>
        </p:nvSpPr>
        <p:spPr>
          <a:xfrm>
            <a:off x="9637920" y="44805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5"/>
          <p:cNvSpPr/>
          <p:nvPr/>
        </p:nvSpPr>
        <p:spPr>
          <a:xfrm>
            <a:off x="10259640" y="44805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6"/>
          <p:cNvSpPr/>
          <p:nvPr/>
        </p:nvSpPr>
        <p:spPr>
          <a:xfrm>
            <a:off x="10881360" y="44805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7"/>
          <p:cNvSpPr/>
          <p:nvPr/>
        </p:nvSpPr>
        <p:spPr>
          <a:xfrm>
            <a:off x="11503080" y="44805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8"/>
          <p:cNvSpPr/>
          <p:nvPr/>
        </p:nvSpPr>
        <p:spPr>
          <a:xfrm>
            <a:off x="7955280" y="48279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9"/>
          <p:cNvSpPr/>
          <p:nvPr/>
        </p:nvSpPr>
        <p:spPr>
          <a:xfrm>
            <a:off x="8577000" y="48279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10"/>
          <p:cNvSpPr/>
          <p:nvPr/>
        </p:nvSpPr>
        <p:spPr>
          <a:xfrm>
            <a:off x="9198720" y="48279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1"/>
          <p:cNvSpPr/>
          <p:nvPr/>
        </p:nvSpPr>
        <p:spPr>
          <a:xfrm>
            <a:off x="9820800" y="48279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2"/>
          <p:cNvSpPr/>
          <p:nvPr/>
        </p:nvSpPr>
        <p:spPr>
          <a:xfrm>
            <a:off x="10442520" y="48279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3"/>
          <p:cNvSpPr/>
          <p:nvPr/>
        </p:nvSpPr>
        <p:spPr>
          <a:xfrm>
            <a:off x="11064240" y="48279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4"/>
          <p:cNvSpPr/>
          <p:nvPr/>
        </p:nvSpPr>
        <p:spPr>
          <a:xfrm>
            <a:off x="11685960" y="48279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5"/>
          <p:cNvSpPr/>
          <p:nvPr/>
        </p:nvSpPr>
        <p:spPr>
          <a:xfrm>
            <a:off x="7772400" y="51753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6"/>
          <p:cNvSpPr/>
          <p:nvPr/>
        </p:nvSpPr>
        <p:spPr>
          <a:xfrm>
            <a:off x="8394120" y="51753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7"/>
          <p:cNvSpPr/>
          <p:nvPr/>
        </p:nvSpPr>
        <p:spPr>
          <a:xfrm>
            <a:off x="9015840" y="51753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18"/>
          <p:cNvSpPr/>
          <p:nvPr/>
        </p:nvSpPr>
        <p:spPr>
          <a:xfrm>
            <a:off x="9637920" y="51753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9"/>
          <p:cNvSpPr/>
          <p:nvPr/>
        </p:nvSpPr>
        <p:spPr>
          <a:xfrm>
            <a:off x="10259640" y="51753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20"/>
          <p:cNvSpPr/>
          <p:nvPr/>
        </p:nvSpPr>
        <p:spPr>
          <a:xfrm>
            <a:off x="10881360" y="51753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1"/>
          <p:cNvSpPr/>
          <p:nvPr/>
        </p:nvSpPr>
        <p:spPr>
          <a:xfrm>
            <a:off x="11503080" y="51753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22"/>
          <p:cNvSpPr/>
          <p:nvPr/>
        </p:nvSpPr>
        <p:spPr>
          <a:xfrm>
            <a:off x="7955280" y="55231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3"/>
          <p:cNvSpPr/>
          <p:nvPr/>
        </p:nvSpPr>
        <p:spPr>
          <a:xfrm>
            <a:off x="8577000" y="55231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24"/>
          <p:cNvSpPr/>
          <p:nvPr/>
        </p:nvSpPr>
        <p:spPr>
          <a:xfrm>
            <a:off x="9198720" y="55231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25"/>
          <p:cNvSpPr/>
          <p:nvPr/>
        </p:nvSpPr>
        <p:spPr>
          <a:xfrm>
            <a:off x="9820800" y="55231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26"/>
          <p:cNvSpPr/>
          <p:nvPr/>
        </p:nvSpPr>
        <p:spPr>
          <a:xfrm>
            <a:off x="10442520" y="55231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27"/>
          <p:cNvSpPr/>
          <p:nvPr/>
        </p:nvSpPr>
        <p:spPr>
          <a:xfrm>
            <a:off x="11064240" y="55231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28"/>
          <p:cNvSpPr/>
          <p:nvPr/>
        </p:nvSpPr>
        <p:spPr>
          <a:xfrm>
            <a:off x="11685960" y="55231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9"/>
          <p:cNvSpPr/>
          <p:nvPr/>
        </p:nvSpPr>
        <p:spPr>
          <a:xfrm>
            <a:off x="7772400" y="58705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30"/>
          <p:cNvSpPr/>
          <p:nvPr/>
        </p:nvSpPr>
        <p:spPr>
          <a:xfrm>
            <a:off x="8394120" y="58705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31"/>
          <p:cNvSpPr/>
          <p:nvPr/>
        </p:nvSpPr>
        <p:spPr>
          <a:xfrm>
            <a:off x="9015840" y="58705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32"/>
          <p:cNvSpPr/>
          <p:nvPr/>
        </p:nvSpPr>
        <p:spPr>
          <a:xfrm>
            <a:off x="9637920" y="58705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33"/>
          <p:cNvSpPr/>
          <p:nvPr/>
        </p:nvSpPr>
        <p:spPr>
          <a:xfrm>
            <a:off x="10259640" y="58705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34"/>
          <p:cNvSpPr/>
          <p:nvPr/>
        </p:nvSpPr>
        <p:spPr>
          <a:xfrm>
            <a:off x="10881360" y="58705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35"/>
          <p:cNvSpPr/>
          <p:nvPr/>
        </p:nvSpPr>
        <p:spPr>
          <a:xfrm>
            <a:off x="11503080" y="58705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36" descr="logo.png"/>
          <p:cNvPicPr/>
          <p:nvPr/>
        </p:nvPicPr>
        <p:blipFill>
          <a:blip r:embed="rId1"/>
          <a:stretch/>
        </p:blipFill>
        <p:spPr>
          <a:xfrm>
            <a:off x="411480" y="228600"/>
            <a:ext cx="201132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37"/>
          <p:cNvSpPr/>
          <p:nvPr/>
        </p:nvSpPr>
        <p:spPr>
          <a:xfrm>
            <a:off x="11109960" y="3474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D2D30"/>
                </a:solidFill>
                <a:effectLst/>
                <a:uFillTx/>
                <a:latin typeface="Calibri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8"/>
          <p:cNvSpPr/>
          <p:nvPr/>
        </p:nvSpPr>
        <p:spPr>
          <a:xfrm>
            <a:off x="685800" y="141732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2D2D30"/>
                </a:solidFill>
                <a:effectLst/>
                <a:uFillTx/>
                <a:latin typeface="Calibri"/>
              </a:rPr>
              <a:t>Анкета подрядчика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39" descr="qr.png"/>
          <p:cNvPicPr/>
          <p:nvPr/>
        </p:nvPicPr>
        <p:blipFill>
          <a:blip r:embed="rId2"/>
          <a:stretch/>
        </p:blipFill>
        <p:spPr>
          <a:xfrm>
            <a:off x="4800600" y="150876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40"/>
          <p:cNvSpPr/>
          <p:nvPr/>
        </p:nvSpPr>
        <p:spPr>
          <a:xfrm>
            <a:off x="4983480" y="46177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600" b="0" u="none" strike="noStrike">
                <a:solidFill>
                  <a:srgbClr val="696969"/>
                </a:solidFill>
                <a:effectLst/>
                <a:uFillTx/>
                <a:latin typeface="Calibri"/>
              </a:rPr>
              <a:t>[QR-код на анкету]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7772400" y="44805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2"/>
          <p:cNvSpPr/>
          <p:nvPr/>
        </p:nvSpPr>
        <p:spPr>
          <a:xfrm>
            <a:off x="8394120" y="44805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9015840" y="44805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4"/>
          <p:cNvSpPr/>
          <p:nvPr/>
        </p:nvSpPr>
        <p:spPr>
          <a:xfrm>
            <a:off x="9637920" y="44805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5"/>
          <p:cNvSpPr/>
          <p:nvPr/>
        </p:nvSpPr>
        <p:spPr>
          <a:xfrm>
            <a:off x="10259640" y="44805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10881360" y="44805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7"/>
          <p:cNvSpPr/>
          <p:nvPr/>
        </p:nvSpPr>
        <p:spPr>
          <a:xfrm>
            <a:off x="11503080" y="44805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8"/>
          <p:cNvSpPr/>
          <p:nvPr/>
        </p:nvSpPr>
        <p:spPr>
          <a:xfrm>
            <a:off x="7955280" y="48279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9"/>
          <p:cNvSpPr/>
          <p:nvPr/>
        </p:nvSpPr>
        <p:spPr>
          <a:xfrm>
            <a:off x="8577000" y="48279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10"/>
          <p:cNvSpPr/>
          <p:nvPr/>
        </p:nvSpPr>
        <p:spPr>
          <a:xfrm>
            <a:off x="9198720" y="48279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1"/>
          <p:cNvSpPr/>
          <p:nvPr/>
        </p:nvSpPr>
        <p:spPr>
          <a:xfrm>
            <a:off x="9820800" y="48279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2"/>
          <p:cNvSpPr/>
          <p:nvPr/>
        </p:nvSpPr>
        <p:spPr>
          <a:xfrm>
            <a:off x="10442520" y="48279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3"/>
          <p:cNvSpPr/>
          <p:nvPr/>
        </p:nvSpPr>
        <p:spPr>
          <a:xfrm>
            <a:off x="11064240" y="48279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4"/>
          <p:cNvSpPr/>
          <p:nvPr/>
        </p:nvSpPr>
        <p:spPr>
          <a:xfrm>
            <a:off x="11685960" y="48279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5"/>
          <p:cNvSpPr/>
          <p:nvPr/>
        </p:nvSpPr>
        <p:spPr>
          <a:xfrm>
            <a:off x="7772400" y="51753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6"/>
          <p:cNvSpPr/>
          <p:nvPr/>
        </p:nvSpPr>
        <p:spPr>
          <a:xfrm>
            <a:off x="8394120" y="51753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17"/>
          <p:cNvSpPr/>
          <p:nvPr/>
        </p:nvSpPr>
        <p:spPr>
          <a:xfrm>
            <a:off x="9015840" y="51753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18"/>
          <p:cNvSpPr/>
          <p:nvPr/>
        </p:nvSpPr>
        <p:spPr>
          <a:xfrm>
            <a:off x="9637920" y="51753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19"/>
          <p:cNvSpPr/>
          <p:nvPr/>
        </p:nvSpPr>
        <p:spPr>
          <a:xfrm>
            <a:off x="10259640" y="517536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0"/>
          <p:cNvSpPr/>
          <p:nvPr/>
        </p:nvSpPr>
        <p:spPr>
          <a:xfrm>
            <a:off x="10881360" y="517536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1"/>
          <p:cNvSpPr/>
          <p:nvPr/>
        </p:nvSpPr>
        <p:spPr>
          <a:xfrm>
            <a:off x="11503080" y="517536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22"/>
          <p:cNvSpPr/>
          <p:nvPr/>
        </p:nvSpPr>
        <p:spPr>
          <a:xfrm>
            <a:off x="7955280" y="55231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3"/>
          <p:cNvSpPr/>
          <p:nvPr/>
        </p:nvSpPr>
        <p:spPr>
          <a:xfrm>
            <a:off x="8577000" y="55231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24"/>
          <p:cNvSpPr/>
          <p:nvPr/>
        </p:nvSpPr>
        <p:spPr>
          <a:xfrm>
            <a:off x="9198720" y="55231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25"/>
          <p:cNvSpPr/>
          <p:nvPr/>
        </p:nvSpPr>
        <p:spPr>
          <a:xfrm>
            <a:off x="9820800" y="55231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6"/>
          <p:cNvSpPr/>
          <p:nvPr/>
        </p:nvSpPr>
        <p:spPr>
          <a:xfrm>
            <a:off x="10442520" y="55231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27"/>
          <p:cNvSpPr/>
          <p:nvPr/>
        </p:nvSpPr>
        <p:spPr>
          <a:xfrm>
            <a:off x="11064240" y="55231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8"/>
          <p:cNvSpPr/>
          <p:nvPr/>
        </p:nvSpPr>
        <p:spPr>
          <a:xfrm>
            <a:off x="11685960" y="55231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29"/>
          <p:cNvSpPr/>
          <p:nvPr/>
        </p:nvSpPr>
        <p:spPr>
          <a:xfrm>
            <a:off x="7772400" y="58705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30"/>
          <p:cNvSpPr/>
          <p:nvPr/>
        </p:nvSpPr>
        <p:spPr>
          <a:xfrm>
            <a:off x="8394120" y="58705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31"/>
          <p:cNvSpPr/>
          <p:nvPr/>
        </p:nvSpPr>
        <p:spPr>
          <a:xfrm>
            <a:off x="9015840" y="58705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32"/>
          <p:cNvSpPr/>
          <p:nvPr/>
        </p:nvSpPr>
        <p:spPr>
          <a:xfrm>
            <a:off x="9637920" y="58705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33"/>
          <p:cNvSpPr/>
          <p:nvPr/>
        </p:nvSpPr>
        <p:spPr>
          <a:xfrm>
            <a:off x="10259640" y="5870520"/>
            <a:ext cx="639720" cy="338040"/>
          </a:xfrm>
          <a:prstGeom prst="rect">
            <a:avLst/>
          </a:prstGeom>
          <a:solidFill>
            <a:srgbClr val="B723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34"/>
          <p:cNvSpPr/>
          <p:nvPr/>
        </p:nvSpPr>
        <p:spPr>
          <a:xfrm>
            <a:off x="10881360" y="5870520"/>
            <a:ext cx="639720" cy="338040"/>
          </a:xfrm>
          <a:prstGeom prst="rect">
            <a:avLst/>
          </a:prstGeom>
          <a:solidFill>
            <a:srgbClr val="BE00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35"/>
          <p:cNvSpPr/>
          <p:nvPr/>
        </p:nvSpPr>
        <p:spPr>
          <a:xfrm>
            <a:off x="11503080" y="5870520"/>
            <a:ext cx="639720" cy="3380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1" name="Picture 36" descr="logo.png"/>
          <p:cNvPicPr/>
          <p:nvPr/>
        </p:nvPicPr>
        <p:blipFill>
          <a:blip r:embed="rId1"/>
          <a:stretch/>
        </p:blipFill>
        <p:spPr>
          <a:xfrm>
            <a:off x="411480" y="228600"/>
            <a:ext cx="201132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37"/>
          <p:cNvSpPr/>
          <p:nvPr/>
        </p:nvSpPr>
        <p:spPr>
          <a:xfrm>
            <a:off x="11109960" y="3474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2D2D30"/>
                </a:solidFill>
                <a:effectLst/>
                <a:uFillTx/>
                <a:latin typeface="Calibri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8"/>
          <p:cNvSpPr/>
          <p:nvPr/>
        </p:nvSpPr>
        <p:spPr>
          <a:xfrm>
            <a:off x="685800" y="141732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2D2D30"/>
                </a:solidFill>
                <a:effectLst/>
                <a:uFillTx/>
                <a:latin typeface="Calibri"/>
              </a:rPr>
              <a:t>Результат: сформированный договор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9"/>
          <p:cNvSpPr/>
          <p:nvPr/>
        </p:nvSpPr>
        <p:spPr>
          <a:xfrm>
            <a:off x="731520" y="2743200"/>
            <a:ext cx="7131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400" b="0" u="none" strike="noStrike">
                <a:solidFill>
                  <a:srgbClr val="2D2D30"/>
                </a:solidFill>
                <a:effectLst/>
                <a:uFillTx/>
                <a:latin typeface="Calibri"/>
              </a:rPr>
              <a:t>Договор сформирован и выгружен в файл.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0"/>
          <p:cNvSpPr/>
          <p:nvPr/>
        </p:nvSpPr>
        <p:spPr>
          <a:xfrm>
            <a:off x="731520" y="3977640"/>
            <a:ext cx="7131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2800" b="0" u="none" strike="noStrike">
                <a:solidFill>
                  <a:srgbClr val="BE0055"/>
                </a:solidFill>
                <a:effectLst/>
                <a:uFillTx/>
                <a:latin typeface="Calibri"/>
              </a:rPr>
              <a:t>Обнаружены ошибки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E00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8046720" y="0"/>
            <a:ext cx="4160160" cy="6857640"/>
          </a:xfrm>
          <a:prstGeom prst="rect">
            <a:avLst/>
          </a:prstGeom>
          <a:solidFill>
            <a:srgbClr val="D526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2" descr="logo.png"/>
          <p:cNvPicPr/>
          <p:nvPr/>
        </p:nvPicPr>
        <p:blipFill>
          <a:blip r:embed="rId1"/>
          <a:stretch/>
        </p:blipFill>
        <p:spPr>
          <a:xfrm>
            <a:off x="411480" y="228600"/>
            <a:ext cx="2011320" cy="5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3"/>
          <p:cNvSpPr/>
          <p:nvPr/>
        </p:nvSpPr>
        <p:spPr>
          <a:xfrm>
            <a:off x="11109960" y="347400"/>
            <a:ext cx="639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2026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685800" y="141732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План доработок на следующую неделю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822960" y="2011680"/>
            <a:ext cx="96008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Подключить сервер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Скорректировать анкету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Скорректировать договор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Исправить подстановку данных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Исправить формат дат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Восстановить абзацы и структуру документа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Подключить справочник банков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Повторно проверить полный сценарий от анкеты до выгрузки файла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LibreOfficeDev/26.8.0.0.alpha0$Linux_X86_64 LibreOffice_project/2c87e51eeaa2b413ff4ae097b2705eea1995d8e5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